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EE1271-5D13-4E6B-88B1-4EB41F62AB16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4273CA-728B-41D3-9CF6-10BB5BDC4390}" v="35" dt="2026-03-07T05:17:07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ini v" userId="3b455ad28259d4ab" providerId="LiveId" clId="{FBA04E91-8D6C-4733-99FA-FBCC04401D96}"/>
    <pc:docChg chg="undo custSel addSld delSld modSld modSection">
      <pc:chgData name="sowmini v" userId="3b455ad28259d4ab" providerId="LiveId" clId="{FBA04E91-8D6C-4733-99FA-FBCC04401D96}" dt="2026-03-13T08:43:40.723" v="531" actId="113"/>
      <pc:docMkLst>
        <pc:docMk/>
      </pc:docMkLst>
      <pc:sldChg chg="modSp mod">
        <pc:chgData name="sowmini v" userId="3b455ad28259d4ab" providerId="LiveId" clId="{FBA04E91-8D6C-4733-99FA-FBCC04401D96}" dt="2026-03-13T08:43:40.723" v="531" actId="113"/>
        <pc:sldMkLst>
          <pc:docMk/>
          <pc:sldMk cId="42028081" sldId="264"/>
        </pc:sldMkLst>
        <pc:spChg chg="mod">
          <ac:chgData name="sowmini v" userId="3b455ad28259d4ab" providerId="LiveId" clId="{FBA04E91-8D6C-4733-99FA-FBCC04401D96}" dt="2026-03-13T08:43:32.365" v="530" actId="113"/>
          <ac:spMkLst>
            <pc:docMk/>
            <pc:sldMk cId="42028081" sldId="264"/>
            <ac:spMk id="2" creationId="{18C3B467-088C-4F3D-A9A7-105C4E1E20CD}"/>
          </ac:spMkLst>
        </pc:spChg>
        <pc:spChg chg="mod">
          <ac:chgData name="sowmini v" userId="3b455ad28259d4ab" providerId="LiveId" clId="{FBA04E91-8D6C-4733-99FA-FBCC04401D96}" dt="2026-03-13T08:43:40.723" v="531" actId="113"/>
          <ac:spMkLst>
            <pc:docMk/>
            <pc:sldMk cId="42028081" sldId="264"/>
            <ac:spMk id="3" creationId="{C8722DDC-8EEE-4A06-8DFE-B44871EAA2CF}"/>
          </ac:spMkLst>
        </pc:spChg>
      </pc:sldChg>
      <pc:sldChg chg="modSp mod">
        <pc:chgData name="sowmini v" userId="3b455ad28259d4ab" providerId="LiveId" clId="{FBA04E91-8D6C-4733-99FA-FBCC04401D96}" dt="2026-03-11T09:10:23.606" v="518" actId="1076"/>
        <pc:sldMkLst>
          <pc:docMk/>
          <pc:sldMk cId="3869566995" sldId="265"/>
        </pc:sldMkLst>
        <pc:spChg chg="mod">
          <ac:chgData name="sowmini v" userId="3b455ad28259d4ab" providerId="LiveId" clId="{FBA04E91-8D6C-4733-99FA-FBCC04401D96}" dt="2026-03-11T09:10:23.606" v="518" actId="1076"/>
          <ac:spMkLst>
            <pc:docMk/>
            <pc:sldMk cId="3869566995" sldId="265"/>
            <ac:spMk id="3" creationId="{6B0CA60F-608D-9D8A-B9CF-E586ADFDEA89}"/>
          </ac:spMkLst>
        </pc:spChg>
      </pc:sldChg>
      <pc:sldChg chg="modSp mod">
        <pc:chgData name="sowmini v" userId="3b455ad28259d4ab" providerId="LiveId" clId="{FBA04E91-8D6C-4733-99FA-FBCC04401D96}" dt="2026-03-11T09:10:36.809" v="519" actId="123"/>
        <pc:sldMkLst>
          <pc:docMk/>
          <pc:sldMk cId="1038398155" sldId="266"/>
        </pc:sldMkLst>
        <pc:spChg chg="mod">
          <ac:chgData name="sowmini v" userId="3b455ad28259d4ab" providerId="LiveId" clId="{FBA04E91-8D6C-4733-99FA-FBCC04401D96}" dt="2026-03-11T09:10:36.809" v="519" actId="123"/>
          <ac:spMkLst>
            <pc:docMk/>
            <pc:sldMk cId="1038398155" sldId="266"/>
            <ac:spMk id="3" creationId="{C209B919-9342-9113-6ECB-17D3CA5864B7}"/>
          </ac:spMkLst>
        </pc:spChg>
      </pc:sldChg>
      <pc:sldChg chg="modSp mod">
        <pc:chgData name="sowmini v" userId="3b455ad28259d4ab" providerId="LiveId" clId="{FBA04E91-8D6C-4733-99FA-FBCC04401D96}" dt="2026-03-11T09:10:49.891" v="520" actId="123"/>
        <pc:sldMkLst>
          <pc:docMk/>
          <pc:sldMk cId="2221678821" sldId="267"/>
        </pc:sldMkLst>
        <pc:spChg chg="mod">
          <ac:chgData name="sowmini v" userId="3b455ad28259d4ab" providerId="LiveId" clId="{FBA04E91-8D6C-4733-99FA-FBCC04401D96}" dt="2026-03-11T09:10:49.891" v="520" actId="123"/>
          <ac:spMkLst>
            <pc:docMk/>
            <pc:sldMk cId="2221678821" sldId="267"/>
            <ac:spMk id="4" creationId="{17F8FA0A-459E-4AAE-5D24-85CBBC01E69A}"/>
          </ac:spMkLst>
        </pc:spChg>
      </pc:sldChg>
      <pc:sldChg chg="modSp mod">
        <pc:chgData name="sowmini v" userId="3b455ad28259d4ab" providerId="LiveId" clId="{FBA04E91-8D6C-4733-99FA-FBCC04401D96}" dt="2026-03-06T14:58:21.030" v="30" actId="20577"/>
        <pc:sldMkLst>
          <pc:docMk/>
          <pc:sldMk cId="281689485" sldId="268"/>
        </pc:sldMkLst>
        <pc:spChg chg="mod">
          <ac:chgData name="sowmini v" userId="3b455ad28259d4ab" providerId="LiveId" clId="{FBA04E91-8D6C-4733-99FA-FBCC04401D96}" dt="2026-03-06T14:58:21.030" v="30" actId="20577"/>
          <ac:spMkLst>
            <pc:docMk/>
            <pc:sldMk cId="281689485" sldId="268"/>
            <ac:spMk id="7" creationId="{0A1C44DE-613E-BAA4-6E63-1CEB96E6527A}"/>
          </ac:spMkLst>
        </pc:spChg>
        <pc:spChg chg="mod">
          <ac:chgData name="sowmini v" userId="3b455ad28259d4ab" providerId="LiveId" clId="{FBA04E91-8D6C-4733-99FA-FBCC04401D96}" dt="2026-03-06T14:38:50.407" v="17" actId="20577"/>
          <ac:spMkLst>
            <pc:docMk/>
            <pc:sldMk cId="281689485" sldId="268"/>
            <ac:spMk id="15" creationId="{4CFF83C5-245B-F8F0-02E8-B6B47DE2AA09}"/>
          </ac:spMkLst>
        </pc:spChg>
      </pc:sldChg>
      <pc:sldChg chg="addSp delSp modSp new mod">
        <pc:chgData name="sowmini v" userId="3b455ad28259d4ab" providerId="LiveId" clId="{FBA04E91-8D6C-4733-99FA-FBCC04401D96}" dt="2026-03-07T05:01:30.120" v="183" actId="1076"/>
        <pc:sldMkLst>
          <pc:docMk/>
          <pc:sldMk cId="2965311995" sldId="269"/>
        </pc:sldMkLst>
        <pc:picChg chg="add mod">
          <ac:chgData name="sowmini v" userId="3b455ad28259d4ab" providerId="LiveId" clId="{FBA04E91-8D6C-4733-99FA-FBCC04401D96}" dt="2026-03-07T05:01:30.120" v="183" actId="1076"/>
          <ac:picMkLst>
            <pc:docMk/>
            <pc:sldMk cId="2965311995" sldId="269"/>
            <ac:picMk id="3" creationId="{A4A500F5-D2B2-05DC-883A-C4D271F93C71}"/>
          </ac:picMkLst>
        </pc:picChg>
      </pc:sldChg>
      <pc:sldChg chg="addSp modSp new mod">
        <pc:chgData name="sowmini v" userId="3b455ad28259d4ab" providerId="LiveId" clId="{FBA04E91-8D6C-4733-99FA-FBCC04401D96}" dt="2026-03-11T09:11:08.388" v="521" actId="123"/>
        <pc:sldMkLst>
          <pc:docMk/>
          <pc:sldMk cId="4094068466" sldId="270"/>
        </pc:sldMkLst>
        <pc:spChg chg="mod">
          <ac:chgData name="sowmini v" userId="3b455ad28259d4ab" providerId="LiveId" clId="{FBA04E91-8D6C-4733-99FA-FBCC04401D96}" dt="2026-03-06T15:40:00.475" v="101" actId="1076"/>
          <ac:spMkLst>
            <pc:docMk/>
            <pc:sldMk cId="4094068466" sldId="270"/>
            <ac:spMk id="2" creationId="{788F695E-5DB0-6244-F812-5C84FBFB5DEF}"/>
          </ac:spMkLst>
        </pc:spChg>
        <pc:spChg chg="mod">
          <ac:chgData name="sowmini v" userId="3b455ad28259d4ab" providerId="LiveId" clId="{FBA04E91-8D6C-4733-99FA-FBCC04401D96}" dt="2026-03-11T09:11:08.388" v="521" actId="123"/>
          <ac:spMkLst>
            <pc:docMk/>
            <pc:sldMk cId="4094068466" sldId="270"/>
            <ac:spMk id="3" creationId="{4D5E27C3-6F80-ED5E-5D07-2971F52B6400}"/>
          </ac:spMkLst>
        </pc:spChg>
      </pc:sldChg>
      <pc:sldChg chg="addSp delSp modSp new mod">
        <pc:chgData name="sowmini v" userId="3b455ad28259d4ab" providerId="LiveId" clId="{FBA04E91-8D6C-4733-99FA-FBCC04401D96}" dt="2026-03-11T09:11:27.689" v="522" actId="123"/>
        <pc:sldMkLst>
          <pc:docMk/>
          <pc:sldMk cId="4006596502" sldId="271"/>
        </pc:sldMkLst>
        <pc:spChg chg="mod">
          <ac:chgData name="sowmini v" userId="3b455ad28259d4ab" providerId="LiveId" clId="{FBA04E91-8D6C-4733-99FA-FBCC04401D96}" dt="2026-03-11T09:11:27.689" v="522" actId="123"/>
          <ac:spMkLst>
            <pc:docMk/>
            <pc:sldMk cId="4006596502" sldId="271"/>
            <ac:spMk id="3" creationId="{AA6E832D-4A05-BD5C-600F-C4B313BECB77}"/>
          </ac:spMkLst>
        </pc:spChg>
      </pc:sldChg>
      <pc:sldChg chg="delSp modSp new mod">
        <pc:chgData name="sowmini v" userId="3b455ad28259d4ab" providerId="LiveId" clId="{FBA04E91-8D6C-4733-99FA-FBCC04401D96}" dt="2026-03-11T09:12:15.709" v="528" actId="27636"/>
        <pc:sldMkLst>
          <pc:docMk/>
          <pc:sldMk cId="3379095139" sldId="272"/>
        </pc:sldMkLst>
        <pc:spChg chg="mod">
          <ac:chgData name="sowmini v" userId="3b455ad28259d4ab" providerId="LiveId" clId="{FBA04E91-8D6C-4733-99FA-FBCC04401D96}" dt="2026-03-11T09:12:15.709" v="528" actId="27636"/>
          <ac:spMkLst>
            <pc:docMk/>
            <pc:sldMk cId="3379095139" sldId="272"/>
            <ac:spMk id="3" creationId="{65010D99-F18E-7E5B-F2CB-1B0B9B3A0444}"/>
          </ac:spMkLst>
        </pc:spChg>
      </pc:sldChg>
      <pc:sldChg chg="modSp new mod">
        <pc:chgData name="sowmini v" userId="3b455ad28259d4ab" providerId="LiveId" clId="{FBA04E91-8D6C-4733-99FA-FBCC04401D96}" dt="2026-03-11T09:12:30.053" v="529" actId="255"/>
        <pc:sldMkLst>
          <pc:docMk/>
          <pc:sldMk cId="809929939" sldId="273"/>
        </pc:sldMkLst>
        <pc:spChg chg="mod">
          <ac:chgData name="sowmini v" userId="3b455ad28259d4ab" providerId="LiveId" clId="{FBA04E91-8D6C-4733-99FA-FBCC04401D96}" dt="2026-03-07T05:22:18.849" v="505" actId="14100"/>
          <ac:spMkLst>
            <pc:docMk/>
            <pc:sldMk cId="809929939" sldId="273"/>
            <ac:spMk id="2" creationId="{72980511-2C90-87F8-457D-799B43BB9538}"/>
          </ac:spMkLst>
        </pc:spChg>
        <pc:spChg chg="mod">
          <ac:chgData name="sowmini v" userId="3b455ad28259d4ab" providerId="LiveId" clId="{FBA04E91-8D6C-4733-99FA-FBCC04401D96}" dt="2026-03-11T09:12:30.053" v="529" actId="255"/>
          <ac:spMkLst>
            <pc:docMk/>
            <pc:sldMk cId="809929939" sldId="273"/>
            <ac:spMk id="3" creationId="{21CF55B4-8DC9-A3C5-ADFB-9236E6E030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sz="3200" b="1" dirty="0"/>
              <a:t>Regional Sales Performance and Product Demand Analysis of </a:t>
            </a:r>
            <a:r>
              <a:rPr lang="en-US" sz="3200" b="1" dirty="0" err="1"/>
              <a:t>Globalmart</a:t>
            </a: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37633" y="4316875"/>
            <a:ext cx="1886470" cy="457201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Presented By </a:t>
            </a:r>
          </a:p>
          <a:p>
            <a:pPr>
              <a:spcAft>
                <a:spcPts val="600"/>
              </a:spcAft>
            </a:pPr>
            <a:r>
              <a:rPr lang="en-US" b="1" dirty="0" err="1"/>
              <a:t>V.Sowmini</a:t>
            </a:r>
            <a:endParaRPr lang="en-US" b="1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1A49-1D16-EE68-CD79-11A61631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37" y="562383"/>
            <a:ext cx="10058400" cy="1371600"/>
          </a:xfrm>
        </p:spPr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CA60F-608D-9D8A-B9CF-E586ADFDE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33983"/>
            <a:ext cx="10058400" cy="3849624"/>
          </a:xfrm>
        </p:spPr>
        <p:txBody>
          <a:bodyPr/>
          <a:lstStyle/>
          <a:p>
            <a:pPr algn="just"/>
            <a:r>
              <a:rPr lang="en-US" sz="2000" dirty="0"/>
              <a:t>This project analyzes </a:t>
            </a:r>
            <a:r>
              <a:rPr lang="en-US" sz="2000" dirty="0" err="1"/>
              <a:t>Globalmart’s</a:t>
            </a:r>
            <a:r>
              <a:rPr lang="en-US" sz="2000" dirty="0"/>
              <a:t> sales and product trends using Power BI to drive data-driven decision-making. By processing 5,000+ records, an interactive dashboard was developed to track Regional Sales Performance and Product Demand.</a:t>
            </a:r>
          </a:p>
          <a:p>
            <a:pPr algn="just"/>
            <a:r>
              <a:rPr lang="en-US" sz="2000" dirty="0"/>
              <a:t>A key highlight is the use of M-Language (Power Query) to create a custom "Performance Status" logic, automatically categorizing deals as Target Achieved, Below Target, or Lost. The final dashboard provides a strategic overview of revenue growth and category demand, transforming raw data into actionable business intelligence.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56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675A-DDD3-F9E3-EF0A-A5FB1A1B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1349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B919-9342-9113-6ECB-17D3CA586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56084"/>
            <a:ext cx="10058400" cy="439666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/>
              <a:t>In the highly competitive retail sector, </a:t>
            </a:r>
            <a:r>
              <a:rPr lang="en-US" sz="2000" dirty="0" err="1"/>
              <a:t>Globalmart</a:t>
            </a:r>
            <a:r>
              <a:rPr lang="en-US" sz="2000" dirty="0"/>
              <a:t> manages a vast and complex dataset of over 5,000 transactions across multiple regions and product categories. Despite having a wealth of data, the organization faces three critical challenges:</a:t>
            </a:r>
          </a:p>
          <a:p>
            <a:pPr algn="just"/>
            <a:r>
              <a:rPr lang="en-US" sz="2000" b="1" dirty="0"/>
              <a:t>Lack of Visibility into Regional Variance: </a:t>
            </a:r>
            <a:r>
              <a:rPr lang="en-US" sz="2000" dirty="0"/>
              <a:t>Management struggles to identify which specific regions are consistently meeting sales targets and which are underperforming in real-time.</a:t>
            </a:r>
          </a:p>
          <a:p>
            <a:pPr algn="just"/>
            <a:r>
              <a:rPr lang="en-US" sz="2000" b="1" dirty="0"/>
              <a:t>Product Demand Misalignment</a:t>
            </a:r>
            <a:r>
              <a:rPr lang="en-US" sz="2000" dirty="0"/>
              <a:t>: There is a gap in understanding which product categories drive the most volume versus those that generate the most revenue, leading to potential inventory imbalances.</a:t>
            </a:r>
          </a:p>
          <a:p>
            <a:pPr algn="just"/>
            <a:r>
              <a:rPr lang="en-US" sz="2000" b="1" dirty="0"/>
              <a:t>Static Performance Tracking: </a:t>
            </a:r>
            <a:r>
              <a:rPr lang="en-US" sz="2000" dirty="0"/>
              <a:t>Currently, the sales data is "static," making it difficult to instantly categorize "Successful" vs. "Failed" deals based on fluctuating corporate targets.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39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67A8-F43D-231E-160D-67686C37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97448"/>
          </a:xfrm>
        </p:spPr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F8FA0A-459E-4AAE-5D24-85CBBC01E6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5071" y="1652409"/>
            <a:ext cx="1049101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Benchmarking: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actual sales revenue against pre-defined corporate targets to measure overall business success.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Trend Analysis: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high-growth geographical regions and those requiring strategic sales intervention.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Demand Profiling: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volume and revenue across categories to determine which products are driving the most market demand.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Decision-Making: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dynamic "Performance Status" logic using M-Language that replaces manual tracking with automated visual indicators.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Forecasting: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user-friendly dashboard that allows stakeholders to filter data by Team and Category for l</a:t>
            </a:r>
            <a:r>
              <a:rPr lang="en-US" altLang="en-US" sz="2000" dirty="0">
                <a:latin typeface="Arial" panose="020B0604020202020204" pitchFamily="34" charset="0"/>
              </a:rPr>
              <a:t>s manual 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ocalized insights.</a:t>
            </a:r>
          </a:p>
        </p:txBody>
      </p:sp>
    </p:spTree>
    <p:extLst>
      <p:ext uri="{BB962C8B-B14F-4D97-AF65-F5344CB8AC3E}">
        <p14:creationId xmlns:p14="http://schemas.microsoft.com/office/powerpoint/2010/main" val="222167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23E0E-AC54-489D-3D08-DE517224E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3" y="735265"/>
            <a:ext cx="2005476" cy="2005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0C30E-1A18-7279-C2FE-3BBA74256AAE}"/>
              </a:ext>
            </a:extLst>
          </p:cNvPr>
          <p:cNvSpPr txBox="1"/>
          <p:nvPr/>
        </p:nvSpPr>
        <p:spPr>
          <a:xfrm>
            <a:off x="599920" y="3181878"/>
            <a:ext cx="34806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Dataset Name:</a:t>
            </a:r>
            <a:r>
              <a:rPr lang="en-IN" dirty="0"/>
              <a:t> </a:t>
            </a:r>
            <a:r>
              <a:rPr lang="en-IN" dirty="0" err="1"/>
              <a:t>GlobalMart</a:t>
            </a:r>
            <a:r>
              <a:rPr lang="en-IN" dirty="0"/>
              <a:t> Supermarket Sales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C44DE-613E-BAA4-6E63-1CEB96E6527A}"/>
              </a:ext>
            </a:extLst>
          </p:cNvPr>
          <p:cNvSpPr txBox="1"/>
          <p:nvPr/>
        </p:nvSpPr>
        <p:spPr>
          <a:xfrm>
            <a:off x="590088" y="3896143"/>
            <a:ext cx="3667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Total Records:</a:t>
            </a:r>
            <a:r>
              <a:rPr lang="en-IN" dirty="0"/>
              <a:t> 4938 Rows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1C0516-E2AD-C1C4-C454-FAA52EC3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605" y="721467"/>
            <a:ext cx="1838479" cy="18384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FF83C5-245B-F8F0-02E8-B6B47DE2AA09}"/>
              </a:ext>
            </a:extLst>
          </p:cNvPr>
          <p:cNvSpPr txBox="1"/>
          <p:nvPr/>
        </p:nvSpPr>
        <p:spPr>
          <a:xfrm>
            <a:off x="4080540" y="2997212"/>
            <a:ext cx="42773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Order_ID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Order_Date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Region &amp;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Sales_Rep</a:t>
            </a:r>
            <a:r>
              <a:rPr lang="en-IN" dirty="0"/>
              <a:t> &amp;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Customer_ID</a:t>
            </a:r>
            <a:r>
              <a:rPr lang="en-IN" dirty="0"/>
              <a:t> &amp;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Product_Category</a:t>
            </a:r>
            <a:r>
              <a:rPr lang="en-IN" dirty="0"/>
              <a:t> &amp; </a:t>
            </a:r>
            <a:r>
              <a:rPr lang="en-IN" dirty="0" err="1"/>
              <a:t>Product_Name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Units_Sold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Performance_Status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FAA06A-5650-AF76-C53B-5DEBE74FE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195" y="901768"/>
            <a:ext cx="1720986" cy="1720986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D0E4DB28-990C-35F2-F5C3-54158250C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231" y="3089545"/>
            <a:ext cx="30380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GlobalMart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Supermarket Sales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Sourced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8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500F5-D2B2-05DC-883A-C4D271F93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13" y="376084"/>
            <a:ext cx="11513574" cy="61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1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695E-5DB0-6244-F812-5C84FBFB5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16953"/>
            <a:ext cx="10058400" cy="576606"/>
          </a:xfrm>
        </p:spPr>
        <p:txBody>
          <a:bodyPr>
            <a:normAutofit fontScale="90000"/>
          </a:bodyPr>
          <a:lstStyle/>
          <a:p>
            <a:r>
              <a:rPr lang="en-IN" dirty="0"/>
              <a:t>Chart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E27C3-6F80-ED5E-5D07-2971F52B6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356852"/>
            <a:ext cx="10058401" cy="4595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Donut Chart</a:t>
            </a:r>
          </a:p>
          <a:p>
            <a:pPr algn="just"/>
            <a:r>
              <a:rPr lang="en-US" sz="1600" dirty="0"/>
              <a:t>The Logic: Created using a Custom M-Code script to calculate a new "Success Metric" from 5,000 records.</a:t>
            </a:r>
          </a:p>
          <a:p>
            <a:pPr algn="just"/>
            <a:r>
              <a:rPr lang="en-US" sz="1600" dirty="0"/>
              <a:t>How it Works: It compares Revenue vs. Target for every row to categorize deals as Target Achieved, Below Target, or Deal Lost.</a:t>
            </a:r>
          </a:p>
          <a:p>
            <a:pPr algn="just"/>
            <a:r>
              <a:rPr lang="en-US" sz="1600" dirty="0"/>
              <a:t>Business Insight: This is the "Efficiency Filter." It shows that even in high-revenue months, the company might be failing to hit its specific growth targets.</a:t>
            </a:r>
          </a:p>
          <a:p>
            <a:pPr marL="0" indent="0" algn="just">
              <a:buNone/>
            </a:pPr>
            <a:r>
              <a:rPr lang="en-IN" sz="1800" b="1" dirty="0"/>
              <a:t>Ribbon Chart</a:t>
            </a:r>
          </a:p>
          <a:p>
            <a:pPr algn="just"/>
            <a:r>
              <a:rPr lang="en-US" sz="1800" dirty="0"/>
              <a:t>The Logic: This tracks the performance ranking of </a:t>
            </a:r>
            <a:r>
              <a:rPr lang="en-US" sz="1800" dirty="0" err="1"/>
              <a:t>Globalmart’s</a:t>
            </a:r>
            <a:r>
              <a:rPr lang="en-US" sz="1800" dirty="0"/>
              <a:t> four regions over time</a:t>
            </a:r>
          </a:p>
          <a:p>
            <a:pPr algn="just"/>
            <a:r>
              <a:rPr lang="en-US" sz="1800" dirty="0"/>
              <a:t>How it Works: The ribbons physically "cross over" each other when one region's revenue overtakes another.</a:t>
            </a:r>
          </a:p>
          <a:p>
            <a:pPr algn="just"/>
            <a:r>
              <a:rPr lang="en-US" sz="1800" dirty="0"/>
              <a:t>Business Insight: It reveals market volatility. For example, if the "North" region drops from rank 1 to 3, it signals a need for immediate strategic intervention in that territory.</a:t>
            </a:r>
          </a:p>
          <a:p>
            <a:pPr marL="0" indent="0" algn="just">
              <a:buNone/>
            </a:pPr>
            <a:endParaRPr lang="en-IN" sz="1800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94068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E832D-4A05-BD5C-600F-C4B313BEC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1" y="1123336"/>
            <a:ext cx="10299290" cy="4815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Gauge Chart</a:t>
            </a:r>
          </a:p>
          <a:p>
            <a:pPr algn="just"/>
            <a:r>
              <a:rPr lang="en-US" sz="1800" dirty="0"/>
              <a:t>Actual Revenue ($3M$): Represented by the Blue Fill. This is the total sales achieved to </a:t>
            </a:r>
          </a:p>
          <a:p>
            <a:pPr algn="just"/>
            <a:r>
              <a:rPr lang="en-US" sz="1800" dirty="0" err="1"/>
              <a:t>date.Total</a:t>
            </a:r>
            <a:r>
              <a:rPr lang="en-US" sz="1800" dirty="0"/>
              <a:t> Scale ($5M$): The white end represents the Maximum Capacity or sales </a:t>
            </a:r>
          </a:p>
          <a:p>
            <a:pPr algn="just"/>
            <a:r>
              <a:rPr lang="en-US" sz="1800" dirty="0" err="1"/>
              <a:t>ceiling.Insight</a:t>
            </a:r>
            <a:r>
              <a:rPr lang="en-US" sz="1800" dirty="0"/>
              <a:t>: Provides a "Speedometer" view of performance. We have currently captured 60% of our total sales potential</a:t>
            </a:r>
          </a:p>
          <a:p>
            <a:pPr marL="0" indent="0" algn="just">
              <a:buNone/>
            </a:pPr>
            <a:endParaRPr lang="en-US" sz="1800" b="1" dirty="0"/>
          </a:p>
          <a:p>
            <a:pPr marL="0" indent="0" algn="just">
              <a:buNone/>
            </a:pPr>
            <a:r>
              <a:rPr lang="en-US" sz="1800" b="1" dirty="0" err="1"/>
              <a:t>Treemap</a:t>
            </a:r>
            <a:r>
              <a:rPr lang="en-US" sz="1800" b="1" dirty="0"/>
              <a:t> Chart</a:t>
            </a:r>
          </a:p>
          <a:p>
            <a:pPr algn="just"/>
            <a:r>
              <a:rPr lang="en-US" sz="1800" dirty="0"/>
              <a:t>The Logic: Breaks down the $3M$ revenue into Product Categories.</a:t>
            </a:r>
          </a:p>
          <a:p>
            <a:pPr algn="just"/>
            <a:r>
              <a:rPr lang="en-US" sz="1800" dirty="0"/>
              <a:t>The Size: Larger rectangles represent the highest revenue </a:t>
            </a:r>
          </a:p>
          <a:p>
            <a:pPr algn="just"/>
            <a:r>
              <a:rPr lang="en-US" sz="1800" dirty="0" err="1"/>
              <a:t>contributors.Insight</a:t>
            </a:r>
            <a:r>
              <a:rPr lang="en-US" sz="1800" dirty="0"/>
              <a:t>: Instantly identifies the "Revenue Engines." It shows exactly which products (like Furniture or Tech) are driving the most profit. </a:t>
            </a:r>
          </a:p>
          <a:p>
            <a:pPr algn="just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0659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0D99-F18E-7E5B-F2CB-1B0B9B3A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310" y="1356852"/>
            <a:ext cx="10058400" cy="38935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b="1" dirty="0"/>
              <a:t>Line and Clustered Column Chart</a:t>
            </a:r>
          </a:p>
          <a:p>
            <a:pPr algn="just"/>
            <a:r>
              <a:rPr lang="en-US" sz="1800" dirty="0"/>
              <a:t>The Logic: Compares Total Revenue across different Geographic Regions (e.g., North, South, East, West).</a:t>
            </a:r>
          </a:p>
          <a:p>
            <a:pPr algn="just"/>
            <a:r>
              <a:rPr lang="en-US" sz="1800" dirty="0"/>
              <a:t>The Visual: Uses vertical bars side-by-side to show the performance of each territory.</a:t>
            </a:r>
          </a:p>
          <a:p>
            <a:pPr algn="just"/>
            <a:r>
              <a:rPr lang="en-US" sz="1800" dirty="0"/>
              <a:t>Business Insight: Identifies "Growth Hotspots." It shows which region is leading in sales and which ones are lagging behind.</a:t>
            </a:r>
          </a:p>
          <a:p>
            <a:pPr algn="just"/>
            <a:r>
              <a:rPr lang="en-US" sz="1800" dirty="0"/>
              <a:t>Value: Helps management decide where to allocate more resources or where to launch new marketing campaigns to fix low performance.</a:t>
            </a:r>
          </a:p>
          <a:p>
            <a:pPr marL="0" indent="0" algn="just">
              <a:buNone/>
            </a:pPr>
            <a:r>
              <a:rPr lang="en-US" sz="1800" b="1" dirty="0"/>
              <a:t>Tools and Technology Used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Power BI Desktop – Visualization and Dashboard Creation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Kaggle – Dataset Source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7909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0511-2C90-87F8-457D-799B43BB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92916"/>
          </a:xfrm>
        </p:spPr>
        <p:txBody>
          <a:bodyPr>
            <a:normAutofit/>
          </a:bodyPr>
          <a:lstStyle/>
          <a:p>
            <a:r>
              <a:rPr lang="en-IN" sz="2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F55B4-8DC9-A3C5-ADFB-9236E6E03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2658"/>
            <a:ext cx="10058400" cy="4350086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dirty="0" err="1"/>
              <a:t>GlobalMart</a:t>
            </a:r>
            <a:r>
              <a:rPr lang="en-US" sz="1800" dirty="0"/>
              <a:t> Dashboard successfully converts 5,000+ rows of data into a strategic roadmap, confirming $3 Million in actual revenue. This performance represents 60% of our total $5 Million capacity, providing a clear "health check" of our sales volume. By layering the Gauge and </a:t>
            </a:r>
            <a:r>
              <a:rPr lang="en-US" sz="1800" dirty="0" err="1"/>
              <a:t>Treemap</a:t>
            </a:r>
            <a:r>
              <a:rPr lang="en-US" sz="1800" dirty="0"/>
              <a:t> visuals, we’ve moved past basic reporting to identify the specific product categories and regions driving our growth.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This visibility allows management to shift from guesswork to data-driven decision-making, ensuring resources are focused on high-demand areas. Looking forward, the project’s future scope includes predictive forecasting and live data integration to anticipate market shifts in real-time. By bridging the current $2M gap with these insights, </a:t>
            </a:r>
            <a:r>
              <a:rPr lang="en-US" sz="1800" dirty="0" err="1"/>
              <a:t>GlobalMart</a:t>
            </a:r>
            <a:r>
              <a:rPr lang="en-US" sz="1800" dirty="0"/>
              <a:t> is positioned to optimize its supply chain and reach its maximum revenue potential. This dashboard provides the essential foundation for a more competitive and reactive business strategy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09929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{5DDAEBA1-CA83-4099-B330-631BBE886E56}tf11531919_win32</Template>
  <TotalTime>172</TotalTime>
  <Words>933</Words>
  <Application>Microsoft Office PowerPoint</Application>
  <PresentationFormat>Widescreen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Avenir Next LT Pro</vt:lpstr>
      <vt:lpstr>Avenir Next LT Pro Light</vt:lpstr>
      <vt:lpstr>Calibri</vt:lpstr>
      <vt:lpstr>Courier New</vt:lpstr>
      <vt:lpstr>Garamond</vt:lpstr>
      <vt:lpstr>SavonVTI</vt:lpstr>
      <vt:lpstr>Regional Sales Performance and Product Demand Analysis of Globalmart</vt:lpstr>
      <vt:lpstr>ABSTRACT</vt:lpstr>
      <vt:lpstr>PROBLEM STATEMENT</vt:lpstr>
      <vt:lpstr>PROJECT OBJECTIVES</vt:lpstr>
      <vt:lpstr>PowerPoint Presentation</vt:lpstr>
      <vt:lpstr>PowerPoint Presentation</vt:lpstr>
      <vt:lpstr>Chart Explanation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sowmini v</dc:creator>
  <cp:lastModifiedBy>sowmini v</cp:lastModifiedBy>
  <cp:revision>1</cp:revision>
  <dcterms:created xsi:type="dcterms:W3CDTF">2026-03-06T07:39:34Z</dcterms:created>
  <dcterms:modified xsi:type="dcterms:W3CDTF">2026-03-13T08:43:41Z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